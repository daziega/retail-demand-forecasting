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7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12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F3D"/>
                </a:solidFill>
                <a:latin typeface="Arial"/>
              </a:rPr>
              <a:t>MAE by Model (lower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4A557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AC-DA4C-BECA-7E4DEB7A513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1AC-DA4C-BECA-7E4DEB7A513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1AC-DA4C-BECA-7E4DEB7A513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1AC-DA4C-BECA-7E4DEB7A513F}"/>
              </c:ext>
            </c:extLst>
          </c:dPt>
          <c:dPt>
            <c:idx val="4"/>
            <c:invertIfNegative val="0"/>
            <c:bubble3D val="0"/>
            <c:spPr>
              <a:solidFill>
                <a:srgbClr val="1C9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1AC-DA4C-BECA-7E4DEB7A513F}"/>
              </c:ext>
            </c:extLst>
          </c:dPt>
          <c:dPt>
            <c:idx val="5"/>
            <c:invertIfNegative val="0"/>
            <c:bubble3D val="0"/>
            <c:spPr>
              <a:solidFill>
                <a:srgbClr val="1C9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1AC-DA4C-BECA-7E4DEB7A513F}"/>
              </c:ext>
            </c:extLst>
          </c:dPt>
          <c:dPt>
            <c:idx val="6"/>
            <c:invertIfNegative val="0"/>
            <c:bubble3D val="0"/>
            <c:spPr>
              <a:solidFill>
                <a:srgbClr val="1C9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1AC-DA4C-BECA-7E4DEB7A513F}"/>
              </c:ext>
            </c:extLst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1AC-DA4C-BECA-7E4DEB7A513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F3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Seasonal
Naive</c:v>
                </c:pt>
                <c:pt idx="1">
                  <c:v>MA</c:v>
                </c:pt>
                <c:pt idx="2">
                  <c:v>Croston-
SBA</c:v>
                </c:pt>
                <c:pt idx="3">
                  <c:v>AutoARIMA</c:v>
                </c:pt>
                <c:pt idx="4">
                  <c:v>LightGBM</c:v>
                </c:pt>
                <c:pt idx="5">
                  <c:v>Random
Forest</c:v>
                </c:pt>
                <c:pt idx="6">
                  <c:v>XGBoost</c:v>
                </c:pt>
                <c:pt idx="7">
                  <c:v>Stacking
Ensemble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1.145</c:v>
                </c:pt>
                <c:pt idx="1">
                  <c:v>1.08</c:v>
                </c:pt>
                <c:pt idx="2">
                  <c:v>1.0209999999999999</c:v>
                </c:pt>
                <c:pt idx="3">
                  <c:v>0.997</c:v>
                </c:pt>
                <c:pt idx="4">
                  <c:v>0.97599999999999998</c:v>
                </c:pt>
                <c:pt idx="5">
                  <c:v>0.97699999999999998</c:v>
                </c:pt>
                <c:pt idx="6">
                  <c:v>0.97</c:v>
                </c:pt>
                <c:pt idx="7">
                  <c:v>0.95199999999999996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1AC-DA4C-BECA-7E4DEB7A51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F3D"/>
                </a:solidFill>
                <a:latin typeface="Arial"/>
              </a:rPr>
              <a:t>Annual Cost Composition (L = 14 days, SL = 95%)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Holding Cost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Classical</c:v>
                </c:pt>
                <c:pt idx="1">
                  <c:v>ML-Gaussian</c:v>
                </c:pt>
                <c:pt idx="2">
                  <c:v>ML-Quantile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63256</c:v>
                </c:pt>
                <c:pt idx="1">
                  <c:v>63243</c:v>
                </c:pt>
                <c:pt idx="2">
                  <c:v>64241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FA-7A44-913F-2B7E053BBA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Ordering Cost</c:v>
                </c:pt>
              </c:strCache>
            </c:strRef>
          </c:tx>
          <c:spPr>
            <a:solidFill>
              <a:srgbClr val="1C9C8E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Classical</c:v>
                </c:pt>
                <c:pt idx="1">
                  <c:v>ML-Gaussian</c:v>
                </c:pt>
                <c:pt idx="2">
                  <c:v>ML-Quantile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332</c:v>
                </c:pt>
                <c:pt idx="1">
                  <c:v>332</c:v>
                </c:pt>
                <c:pt idx="2">
                  <c:v>332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FA-7A44-913F-2B7E053BBA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Stockout Cost</c:v>
                </c:pt>
              </c:strCache>
            </c:strRef>
          </c:tx>
          <c:spPr>
            <a:solidFill>
              <a:srgbClr val="E8654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Classical</c:v>
                </c:pt>
                <c:pt idx="1">
                  <c:v>ML-Gaussian</c:v>
                </c:pt>
                <c:pt idx="2">
                  <c:v>ML-Quantile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FA-7A44-913F-2B7E053BB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48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928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committee, state your name and the thesis title, and give a one-sentence framing: this is a simulation-based test of whether published ML-forecasting inventory gains actually materialise at the SKU-daily level an SME would use. Keep this under 30 seconds — the agenda slide does the roadmap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sections in order: business problem, methodology, results, recommendations. Signal explicitly that the results section contains a correction to an earlier estimate — this primes the committee rather than surprising them cold on slide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stakes in plain trade-off language before any technical content. The right-hand card's 10–25% / 5–15% figures are the literature benchmarks this thesis exists to test — say so explicitly, since slide 15 revisits these exact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maps to a research objective on the next slide — Gap 1→Obj 1, Gap 2→Obj 3/4, Gap 3→Obj 5, Gap 4→Obj 3. If asked to justify the gaps: they come from the 52-source literature synthesis (slide 6), not personal opinion.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briskly — the committee has already seen them in the written thesis. Flag Objective 4 explicitly: it was reframed, with supervisor input, from 'achieve X% gains' to 'test whether gains transfer' — this is the objective that licenses the disconfirmation finding as a valid outcome,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thesis's central research question, stated plainly: do the 10–25% / 5–15% benchmarks survive the move from weekly/category aggregation to daily/SKU granularity? Everything through slide 15 builds toward answering it — just plant the question here, don't resolve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dataset justification. If asked why only 502 of 3,049 series: computational tractability, with the subsample stratified proportionally across category × state to preserve representativeness — not cherry-picked. If challenged on using Walmart data to make SME claims: the transferability argument is about the pipeline and data requirements, not the specific retailer — §1.2.3 specifies this concretely: three data sources (daily unit sales, calendar/promotional data, weekly pricing) that any standard POS or ERP system already produces, open-source tooling only, and one analyst with intermediate Python competency. M5 is used as a large-scale, hierarchically realistic proxy, not a claim that Walmart and a corner retailer face identical demand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— five tiers, all standard architectures, nothing novel claimed here. The methodological contribution is downstream in the simulation, not in model selection. If pressed on the LSTM specifically: 128/64 stacked units with dropout 0.2 was tuned via validation-set MAPE, detailed in the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(R,s,S) mechanics briefly, then land on the two safety-stock formulas — that's the crux. Gaussian assumes symmetric forecast errors; empirical-quantile does not. This distinction is exactly what the inventory experiment tests — say that explicitly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methodological slide in the deck — slow down here. State plainly: an earlier draft used the left-hand (assumed/analytical) approach, produced a 21% cost-saving figure, and a supervisor review caught that this was circular — the quantile policy was assigned a higher service level by construction, then credited for 'achieving' it. The right-hand approach is what actually got measured and reported. Naming this transparently before showing the result builds credibility rather than undermining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trusting a simulation that reports zero stockouts, you have to prove it CAN detect a stockout — that's this table. All three stress conditions correctly degrade service and spike cost, ruling out 'your simulator is just broken / always reports success.' This is shown before the headline number precisely to pre-empt that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ensemble modestly beats classical baselines on MAE (+4.5%) and RMSE (+9.5%), but MAPE improvement is flat — well short of the 10–25% literature benchmark. Flag this now: better forecasts existed, but as slide 14 shows, better forecasts didn't translate into better inventory outcomes in this regime. That's the whole thesis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interpretability check — recent rolling means and item-level seasonality dominate, not some opaque signal. Useful mainly to pre-empt a 'is this a black box' question; don't dwell unless asked. If asked why SHAP is run on LightGBM rather than the winning stacking ensemble: stacking ensembles combine three base learners through a meta-learner, which resists clean, single-model attribution — LightGBM is used as the standard, well-supported proxy for interpretability, consistent with how tree-based SHAP is normally applied in this literature. The ensemble's own behaviour is dominated by the same base learners LightGBM represents.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slide. Pause here. Emphasise: this was measured, not assumed — the simulation was independently validated (falsification results, slide 11). If asked why this contradicts the abstract's framing: it doesn't — it IS the framing. The abstract explicitly states the apparent saving does not survive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'so was the thesis a failure?' — No. Disconfirmation of a specific hypothesis under specific conditions is a valid and valuable research outcome, especially when it corrects a methodological flaw (assumed vs measured performance) common across the literature this thesis reviewed. This slide names the correction directly rather than burying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is the mechanical explanation for slides 14–15: holding cost is ~99.5% of total cost and nearly identical across all three policies; ordering cost is a rounding error; stockout cost is exactly zero for all three. There is structurally no room for a safety-stock formula to differentiate cost when the thing it protects against never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'is this just a fluke of your parameter choices' question — walk through both sensitivity axes actually reported in Chapter 5 §5.7 (lead time and stockout multiplier) and note neither flips the conclusion. The stockout-multiplier result is the strongest point: even inflating stockout cost up to 2× doesn't matter, because the multiplier never engages against a real stockout. If asked about forecast-accuracy (MAPE) sensitivity specifically: that sweep belonged to the earlier, retracted analytical methodology and was not reproduced under simulation — say so directly rather than implying it was tested. If pushed on why one 56-day window is enough to generalise a boundary condition: it isn't, on its own — that's exactly why the deliverable is a diagnostic tool rather than a universal percentage. The claim isn't 'this window proves ML forecasting never helps'; it's 'here is a validated way to test your own window, your own data, before investing.' Window-dependence is a limitation of this specific measurement, not of the method being offered.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contribution: not a cost-saving percentage, but a boundary condition and a reusable diagnostic. Committee may ask for the mechanism — explain via the two-card comparison on this slide if asked to elaborate.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tone here — from 'here's what we found' to 'here's what we built regardless.' The dashboard has value independent of which policy wins, because visibility into forecast-vs-actual is useful to an SME manager either way. Mention it runs on Power BI's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page makes the finding SME-legible without requiring anyone to read the thesis — the cost breakdown by policy, visually, is slide 16's chart made operational. Reiterate: free, laptop-grade, uses data a typical POS system already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distinct audiences, two columns — don't let the committee conflate them. The theoretical contribution is the finding itself (regime-conditionality); the practical contribution is the reusable diagnostic tool. Both stand on their own even though the headline number didn't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advice an SME owner would actually walk away with. Step 2 is the operational core: run the diagnostic on your OWN data before spending on either better forecasting or better safety-stock formulas, because the answer is regime-dependent, not universal. If asked how technical a team needs to be to actually run this: §1.2.3 is specific — one analyst with roughly 12-18 months of Python scripting experience, using only free and open-source libraries, on a standard laptop. No dedicated data science hire or paid infrastructure is required, which is the whole point of the SME-accessibility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and unhurried here — a 56-day single test window is the most defensible line of questioning to expect, and 'a longer or differently-timed window could expose real stockouts' is the honest answer, not a hedge. Each limitation is paired row-by-row with its future-work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reframe, not the retracted number: ML forecasting's inventory value is real but conditional, and the contribution is a way to test which condition you're in before investing. The closing line — 'the barrier is informational, not financial' — is the sentence to leave the committee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talking. Invite questions. If the committee opens with a challenge to the 21%→−1.5% reversal, don't get defensive — point back to slide 10 (the methodological pivot) and slide 11 (falsification validation) as the two slides that pre-empt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2926080"/>
            <a:ext cx="2377440" cy="2377440"/>
          </a:xfrm>
          <a:prstGeom prst="ellipse">
            <a:avLst/>
          </a:prstGeom>
          <a:solidFill>
            <a:srgbClr val="263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DEFENCE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 and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Optimisation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simulation-based evaluation on the M5-Forecasting (Walmart) dataset, with an SME-accessible Power BI dashboard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1089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2245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Korbla Aziega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Theresa Korlekuor Apla-Kweku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Abdul-Razak Seidu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Rocío González Martínez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 AI for Business and Data Science  |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Defense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93292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48" y="20266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forecasting alone doesn't solve inventory decisions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33472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23844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000" y="202667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70632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770632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tiers, OUTL policy, and forward simulation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64024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54396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6552" y="202667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901184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901184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and the central inventory finding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94576" y="1600200"/>
            <a:ext cx="1965960" cy="260604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584948" y="18745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7104" y="2026676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1736" y="18562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031736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31736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diagnostic tool for SME decision-makers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DECISION-MAKING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Retailer Faces the Same Trade-off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stock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lost sales, eroded customer trust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stock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tied-up cash, holding cost, spoilage risk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retailers solve this with dedicated data-science teams and enterprise software. Small and medium-sized enterprises (SMEs) typically have neither — yet face an identical operational problem.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508760"/>
            <a:ext cx="365760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claims say: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2103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30352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improvement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0" y="3200400"/>
            <a:ext cx="31089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3337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30352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cost reduction — from published ML forecasting studies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GENUINELY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Structural Gaps in Current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29868" y="1810512"/>
            <a:ext cx="512064" cy="512064"/>
          </a:xfrm>
          <a:prstGeom prst="ellipse">
            <a:avLst/>
          </a:prstGeom>
          <a:solidFill>
            <a:srgbClr val="1C9C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005" y="194364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≠ Decision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report accuracy and stop — they never translate forecasts into inventory outcomes.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33472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60420" y="1810512"/>
            <a:ext cx="512064" cy="512064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557" y="194364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70632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743200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Validation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70632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performance is usually assumed analytically, not measured by running the policy forward.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64024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90972" y="1810512"/>
            <a:ext cx="512064" cy="512064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109" y="194364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01184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873752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 Left Behind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901184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assume infrastructure and staffing SMEs simply don't have.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94576" y="155448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7621524" y="18105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661" y="1943649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1736" y="24505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004304" y="2688336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Ignored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31736" y="321868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safety-stock formulas assume symmetric errors — real retail demand is skewed and intermittent.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Guided This Research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Comparatively evaluate forecasting approaches — classical, ML, deep learning, ensemble, and probabilistic — on a hierarchical retail benchmark.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0370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18541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systematic feature-engineering strategy capturing the principal drivers of retail demand.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986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best-performing forecast with the Order-Up-To-Level (OUTL) inventory policy.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93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5753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literature-reported gains (10–25% accuracy, 5–15% cost) transfer to SKU-daily granularity.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885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27024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Power BI dashboard translating outputs into an accessible tool for SME decision-makers.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52 SOURCES SYNTHESISED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 Finding, With One Critical Caveat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ensemble methods consistently outperform classical statistics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retail forecasting studies — this is well replicated.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FFF4E8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5081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31720"/>
            <a:ext cx="6995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caveat that matters most: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10–25% / 5–15% benchmarks are measured on data aggregated to the weekly or category level — not the daily, individual-product level where real inventory decisions are made.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794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was designed to directly test whether those benchmark figures survive the move to SKU-daily granularity, using real product-store-day data and inventory outcomes measured — not assumed.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M5-Forecasting (Walmart)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85416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58568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76856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3 US states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67912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41064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59352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(2011–2016)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50408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23560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41848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stratified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used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32904" y="1691640"/>
            <a:ext cx="1572768" cy="192024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06056" y="201168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24344" y="274320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out-of-sample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scale, hierarchical structure mirroring real SME retail operations, and status as an established academic benchmark. A stratified subsample (proportional across category × state) was used for computational tractability.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 Tiers, Compared Head-to-Head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801368"/>
            <a:ext cx="475488" cy="475488"/>
          </a:xfrm>
          <a:prstGeom prst="ellipse">
            <a:avLst/>
          </a:prstGeom>
          <a:solidFill>
            <a:srgbClr val="4A55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187" y="192499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6072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SES, AutoARIMA,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Croston, Croston-SBA,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85416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34056" y="1801368"/>
            <a:ext cx="475488" cy="475488"/>
          </a:xfrm>
          <a:prstGeom prst="ellipse">
            <a:avLst/>
          </a:prstGeom>
          <a:solidFill>
            <a:srgbClr val="1C9C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683" y="1924995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76856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258568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ML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76856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(Tweedie loss)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67912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16552" y="180136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179" y="1924995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59352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941064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59352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128/64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units,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0.2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550408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099048" y="1801368"/>
            <a:ext cx="475488" cy="475488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675" y="1924995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41848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623560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41848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Stacking: LGBM + XGB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RF → Ridge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232904" y="1600200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781544" y="1801368"/>
            <a:ext cx="475488" cy="47548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171" y="1924995"/>
            <a:ext cx="228234" cy="2282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24344" y="23774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7306056" y="262432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324344" y="30815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quantile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(P10 – P99)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strictly on historical data. Evaluated exclusively on a later, entirely unseen test period.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Forecasts Into Inventory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Order-Up-To-Level (R, s, S) Policy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review policy: every R days, if the inventory position falls at or below reorder point s, an order is placed to raise stock to order-up-to level 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policy variants compared — differing only in how safety stock is calculated: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Gaussian formula fed by classical forecast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ML-Gaussian 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Gaussian formula fed by ML ensemble forecast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ML-Empirical-Quantile 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distribution-aware formula from quantile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417320"/>
            <a:ext cx="374904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Formulas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= z · σ · √(R + 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2487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(textbook) — assumes symmetric forecast-error distribution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3063240"/>
            <a:ext cx="32004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= (P95 − P50) · √(R + L)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1208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quantile — reflects the true, skewed shape of retail demand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PIVOTAL METHODOLOGICAL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Performance, Not Assuming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FDF0EE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94560" y="1828800"/>
            <a:ext cx="548640" cy="54864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20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Published Studies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expected cost and service level analytically — using a formula to project what should happen under an assumed stockout rate.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E9F7F4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48640" cy="548640"/>
          </a:xfrm>
          <a:prstGeom prst="ellipse">
            <a:avLst/>
          </a:prstGeom>
          <a:solidFill>
            <a:srgbClr val="1C9C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Thesis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28803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each policy forward, day by day, against real 56-day test demand for all 502 products — genuinely tracking stock, genuinely recording every stockout.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SIMULATION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Falsification Test: Can It Detect a Stockout?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the simulation, it was deliberately stress-tested under conditions engineered to force stockouts.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Condition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SL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Cost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buffers (baseline)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set to zero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$124,338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scaled ×3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$87,691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8138160" cy="502920"/>
          </a:xfrm>
          <a:prstGeom prst="roundRect">
            <a:avLst>
              <a:gd name="adj" fmla="val 9091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suppressed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$469,556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stress condition correctly registered degraded service and rising cost — confirming the 100% baseline result reflects demand genuinely being met, not a counter that never fires.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FORECAST ACCURACY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Ensemble Wins, But the Margin Is Modest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371600"/>
          <a:ext cx="5212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4630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3504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0350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improvement vs best classical baseline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0" y="30175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3154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+9.5%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035040" y="3886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improvement — large-error / spike sensitivity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improvement was essentially flat — below the 10–25% literature benchmark, as anticipated (Slide 6).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Forecast</a:t>
            </a:r>
            <a:endParaRPr lang="en-US" sz="3000" dirty="0"/>
          </a:p>
        </p:txBody>
      </p:sp>
      <p:pic>
        <p:nvPicPr>
          <p:cNvPr id="4" name="Image 0" descr="/Users/desmond/Capstone Project/retail-demand-forecasting/figures/shap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371600"/>
            <a:ext cx="676656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 explain 78.6% of model behaviour — dominated by recent sales trend and item-level seasonality, not opaque signals.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56032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Realised Service Level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achieved by ALL THREE policies (Classical, ML-Gaussian, ML-Quantile) across every one of the 502 products, over the full 56-day test window. No policy ever stocked out.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100584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263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57276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stockouts, there was no stockout cost left for a smarter forecast or a smarter safety-stock formula to save.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228600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ML-Quantile policy cost: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29992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the classical baseline — unnecessary safety stock, no offsetting benefit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Earlier 21% Estimate Did Not Survive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31920" cy="2788920"/>
          </a:xfrm>
          <a:prstGeom prst="roundRect">
            <a:avLst>
              <a:gd name="adj" fmla="val 3279"/>
            </a:avLst>
          </a:prstGeom>
          <a:solidFill>
            <a:srgbClr val="FD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(Analytical) Draft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the Gaussian policy achieved ~83% service and the quantile policy ~95% "by calibration," then computed cost from that gap.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6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quantile policy won by construction — before any simulation ran.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31920" cy="2788920"/>
          </a:xfrm>
          <a:prstGeom prst="roundRect">
            <a:avLst>
              <a:gd name="adj" fmla="val 3279"/>
            </a:avLst>
          </a:prstGeom>
          <a:solidFill>
            <a:srgbClr val="E9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Thesis (Simulated)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−1.5%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93776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policies actually achieve 100% service — the quantile buffer protects against stockouts that never occur.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Ch1 5–15% inventory-cost target is not achieved on this dataset — treated as a finding, not a failure.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COST 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Cost Dominates; Stockout Cost Is Zero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417320"/>
          <a:ext cx="8138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091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at $0 — the ML-Quantile difference is a genuine but small ~1.5% increase, not the large gap a truncated axis would suggest.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 Is Robust — Not a One-Off Result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31920" cy="2606040"/>
          </a:xfrm>
          <a:prstGeom prst="roundRect">
            <a:avLst>
              <a:gd name="adj" fmla="val 3158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9456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206" y="20171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Lead Time (7–21 days)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−1.3% to −1.7%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3593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policy consistently more expensive, never favourable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600200"/>
            <a:ext cx="3931920" cy="2606040"/>
          </a:xfrm>
          <a:prstGeom prst="roundRect">
            <a:avLst>
              <a:gd name="adj" fmla="val 3158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20171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2560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Stockout Multiplier (0.4×–2.0×)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892040" y="3081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change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92040" y="359359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never engages — zero stockouts to price at any level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threefold demand-shock stress test (Slide 11) shows even that is not enough, on this dataset, to make the quantile policy clearly superior.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Boundary Condition, Not a Blanket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ML forecasting and distributional safety stock is conditional on the demand regime: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9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1C9C8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3253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stockout risk exists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880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larger, empirically calibrated buffer earns back its holding cost by preventing real stockouts.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9659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D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2194560"/>
            <a:ext cx="502920" cy="502920"/>
          </a:xfrm>
          <a:prstGeom prst="ellipse">
            <a:avLst/>
          </a:prstGeom>
          <a:solidFill>
            <a:srgbClr val="E865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519" y="23253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221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is already saturated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880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buffer protects against stockouts that don't occur — pure added cost, no benefit. (The M5 test regime.)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Accessible Power BI Dashboard for SMEs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Ensemble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2900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Quantile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132588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EA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50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Chg. Quantile</a:t>
            </a:r>
            <a:endParaRPr lang="en-US" sz="950" dirty="0"/>
          </a:p>
        </p:txBody>
      </p:sp>
      <p:pic>
        <p:nvPicPr>
          <p:cNvPr id="13" name="Image 0" descr="/Users/desmond/Capstone Project/retail-demand-forecasting/figures/dashboard_forecast_overview_sku_charton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240280"/>
            <a:ext cx="7498080" cy="2331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Overview — actual vs. ML-ensemble vs. classical forecast, with KPI tiles and per-SKU drilldown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Analysis — The Finding, Made Visible</a:t>
            </a:r>
            <a:endParaRPr lang="en-US" sz="3000" dirty="0"/>
          </a:p>
        </p:txBody>
      </p:sp>
      <p:pic>
        <p:nvPicPr>
          <p:cNvPr id="4" name="Image 0" descr="/Users/desmond/Capstone Project/retail-demand-forecasting/figures/dashboard_cost_analysi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371600"/>
            <a:ext cx="777240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(Power BI free tier). Runs on a standard laptop. Requires only data a typical POS system already produces.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 and Practical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Theoretical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simulation-based measurement of the Gaussian-vs-empirical safety-stock choice on M5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ML forecasting's inventory value is regime-conditional, not automatic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62102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inventory comparison is robust to the stockout-cost multiplier (zero stockouts at 0.4×–2.0×)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AF0FE"/>
          </a:solidFill>
          <a:ln/>
          <a:effectLst>
            <a:outerShdw blurRad="101600" dist="3810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reproducible, free-and-open-source pipeline (&lt; 3 hrs on a laptop)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9077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forward-simulation engine usable as a pre-investment diagnostic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62102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for non-technical SME managers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SMEs: Diagnose Before You Invest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4904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trust published % claims alone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at what data granularity, and was cost measured or assumed?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diagnostic on your own data first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delivered simulation engine tells you if you face real stockout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0449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where the diagnostic says risk is real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High-margin, fast-moving, or highly seasonal categories are the best candidates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8221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dashboard regardless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low-risk visibility — independent of which forecasting method feeds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Does Not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FD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56-day test window — a longer or differently-timed window could expose real stockouts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evaluated at one architecture only — more elaborate sequence models untested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cost modelled as linear — real-world costs (e.g. churn) may be non-linear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931920" cy="2880360"/>
          </a:xfrm>
          <a:prstGeom prst="roundRect">
            <a:avLst>
              <a:gd name="adj" fmla="val 3175"/>
            </a:avLst>
          </a:prstGeom>
          <a:solidFill>
            <a:srgbClr val="E9F7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9C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on retail benchmarks with more volatile demand (Rossmann, Favorita)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297180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boundary condition in a live SME deployment with genuine stockout exposure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74904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simulation engine to non-linear stockout costs and lead-time uncertainty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6459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9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of ML Forecasting Is Real —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Conditional, Not Automatic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delivers both the evidence for that conclusion and a practical, free, open-source tool that lets any organisation test which side of that condition it falls on — using its own data, before spending anything further.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0A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this research removes is not financial. It is informational.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66760" y="48646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680960" y="3108960"/>
            <a:ext cx="2743200" cy="2743200"/>
          </a:xfrm>
          <a:prstGeom prst="ellipse">
            <a:avLst/>
          </a:prstGeom>
          <a:solidFill>
            <a:srgbClr val="2630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Korbla Aziega  •  Theresa Korlekuor Apla-Kweku  •  Abdul-Razak Seidu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Rocío González Martínez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3605</Words>
  <Application>Microsoft Macintosh PowerPoint</Application>
  <PresentationFormat>On-screen Show (16:9)</PresentationFormat>
  <Paragraphs>332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 and Inventory Optimisation Using Machine Learning</dc:title>
  <dc:subject>PptxGenJS Presentation</dc:subject>
  <dc:creator>Desmond Korbla Aziega, Theresa Korlekuor Apla-Kweku, Abdul-Razak Seidu</dc:creator>
  <cp:lastModifiedBy>DESMOND KORBLA AZIEGA</cp:lastModifiedBy>
  <cp:revision>2</cp:revision>
  <dcterms:created xsi:type="dcterms:W3CDTF">2026-07-03T02:58:58Z</dcterms:created>
  <dcterms:modified xsi:type="dcterms:W3CDTF">2026-07-03T10:12:26Z</dcterms:modified>
</cp:coreProperties>
</file>